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f6c520c724616" /><Relationship Type="http://schemas.openxmlformats.org/officeDocument/2006/relationships/extended-properties" Target="/docProps/app.xml" Id="Rf5e73c7365a04781" /><Relationship Type="http://schemas.openxmlformats.org/officeDocument/2006/relationships/officeDocument" Target="/ppt/presentation.xml" Id="R01a705d7b3fe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e8236ac5a4d93"/>
  </p:sldMasterIdLst>
  <p:notesMasterIdLst>
    <p:notesMasterId xmlns:r="http://schemas.openxmlformats.org/officeDocument/2006/relationships" r:id="R17bbaa5b8ef84f09"/>
  </p:notesMasterIdLst>
  <p:sldIdLst>
    <p:sldId xmlns:r="http://schemas.openxmlformats.org/officeDocument/2006/relationships" id="256" r:id="Rd212110a0332415f"/>
    <p:sldId xmlns:r="http://schemas.openxmlformats.org/officeDocument/2006/relationships" id="257" r:id="Rc24522f264624520"/>
    <p:sldId xmlns:r="http://schemas.openxmlformats.org/officeDocument/2006/relationships" id="258" r:id="Rc9acb1e790264aca"/>
    <p:sldId xmlns:r="http://schemas.openxmlformats.org/officeDocument/2006/relationships" id="259" r:id="R53b14dd00e354b2e"/>
    <p:sldId xmlns:r="http://schemas.openxmlformats.org/officeDocument/2006/relationships" id="260" r:id="Rc2ec362737cd432d"/>
    <p:sldId xmlns:r="http://schemas.openxmlformats.org/officeDocument/2006/relationships" id="261" r:id="R497615c4edcd4657"/>
    <p:sldId xmlns:r="http://schemas.openxmlformats.org/officeDocument/2006/relationships" id="262" r:id="R60a6c57be5244a5c"/>
    <p:sldId xmlns:r="http://schemas.openxmlformats.org/officeDocument/2006/relationships" id="263" r:id="Rd96bb05b87e441fc"/>
    <p:sldId xmlns:r="http://schemas.openxmlformats.org/officeDocument/2006/relationships" id="264" r:id="Rfbd2f0c2fbc145c8"/>
    <p:sldId xmlns:r="http://schemas.openxmlformats.org/officeDocument/2006/relationships" id="265" r:id="R6b314d4dc3b64d74"/>
    <p:sldId xmlns:r="http://schemas.openxmlformats.org/officeDocument/2006/relationships" id="266" r:id="R83eb33ea526f41be"/>
    <p:sldId xmlns:r="http://schemas.openxmlformats.org/officeDocument/2006/relationships" id="267" r:id="R8aa39df6b38742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067fe336214021" /><Relationship Type="http://schemas.openxmlformats.org/officeDocument/2006/relationships/slideMaster" Target="/ppt/slideMasters/slideMaster1.xml" Id="R8b2e8236ac5a4d93" /><Relationship Type="http://schemas.openxmlformats.org/officeDocument/2006/relationships/notesMaster" Target="/ppt/notesMasters/notesMaster1.xml" Id="R17bbaa5b8ef84f09" /><Relationship Type="http://schemas.openxmlformats.org/officeDocument/2006/relationships/presProps" Target="/ppt/presProps.xml" Id="R685b38cb01394f81" /><Relationship Type="http://schemas.openxmlformats.org/officeDocument/2006/relationships/tableStyles" Target="/ppt/tableStyles.xml" Id="Rb08013d5b17f4c29" /><Relationship Type="http://schemas.openxmlformats.org/officeDocument/2006/relationships/slide" Target="/ppt/slides/slide1.xml" Id="Rd212110a0332415f" /><Relationship Type="http://schemas.openxmlformats.org/officeDocument/2006/relationships/slide" Target="/ppt/slides/slide2.xml" Id="Rc24522f264624520" /><Relationship Type="http://schemas.openxmlformats.org/officeDocument/2006/relationships/slide" Target="/ppt/slides/slide3.xml" Id="Rc9acb1e790264aca" /><Relationship Type="http://schemas.openxmlformats.org/officeDocument/2006/relationships/slide" Target="/ppt/slides/slide4.xml" Id="R53b14dd00e354b2e" /><Relationship Type="http://schemas.openxmlformats.org/officeDocument/2006/relationships/slide" Target="/ppt/slides/slide5.xml" Id="Rc2ec362737cd432d" /><Relationship Type="http://schemas.openxmlformats.org/officeDocument/2006/relationships/slide" Target="/ppt/slides/slide6.xml" Id="R497615c4edcd4657" /><Relationship Type="http://schemas.openxmlformats.org/officeDocument/2006/relationships/slide" Target="/ppt/slides/slide7.xml" Id="R60a6c57be5244a5c" /><Relationship Type="http://schemas.openxmlformats.org/officeDocument/2006/relationships/slide" Target="/ppt/slides/slide8.xml" Id="Rd96bb05b87e441fc" /><Relationship Type="http://schemas.openxmlformats.org/officeDocument/2006/relationships/slide" Target="/ppt/slides/slide9.xml" Id="Rfbd2f0c2fbc145c8" /><Relationship Type="http://schemas.openxmlformats.org/officeDocument/2006/relationships/slide" Target="/ppt/slides/slide10.xml" Id="R6b314d4dc3b64d74" /><Relationship Type="http://schemas.openxmlformats.org/officeDocument/2006/relationships/slide" Target="/ppt/slides/slide11.xml" Id="R83eb33ea526f41be" /><Relationship Type="http://schemas.openxmlformats.org/officeDocument/2006/relationships/slide" Target="/ppt/slides/slide12.xml" Id="R8aa39df6b38742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9ed7ace924e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d2d39f46146f4" /><Relationship Type="http://schemas.openxmlformats.org/officeDocument/2006/relationships/notesMaster" Target="/ppt/notesMasters/notesMaster1.xml" Id="R8313552a08b2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fcbea6e2624b02" /><Relationship Type="http://schemas.openxmlformats.org/officeDocument/2006/relationships/notesMaster" Target="/ppt/notesMasters/notesMaster1.xml" Id="Rd067be0b719b4e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c2c6e06b164aee" /><Relationship Type="http://schemas.openxmlformats.org/officeDocument/2006/relationships/notesMaster" Target="/ppt/notesMasters/notesMaster1.xml" Id="Re49ca1d74add4e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e06d86d7af4c57" /><Relationship Type="http://schemas.openxmlformats.org/officeDocument/2006/relationships/notesMaster" Target="/ppt/notesMasters/notesMaster1.xml" Id="R3b1998128008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9d9cc261fb45ad" /><Relationship Type="http://schemas.openxmlformats.org/officeDocument/2006/relationships/notesMaster" Target="/ppt/notesMasters/notesMaster1.xml" Id="R4f82cc6a2b9745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7bc63b92a438b" /><Relationship Type="http://schemas.openxmlformats.org/officeDocument/2006/relationships/notesMaster" Target="/ppt/notesMasters/notesMaster1.xml" Id="R1d655fe8731441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bebef4c2044cbb" /><Relationship Type="http://schemas.openxmlformats.org/officeDocument/2006/relationships/notesMaster" Target="/ppt/notesMasters/notesMaster1.xml" Id="R580245fd144a42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230b3a2aef4ac0" /><Relationship Type="http://schemas.openxmlformats.org/officeDocument/2006/relationships/notesMaster" Target="/ppt/notesMasters/notesMaster1.xml" Id="Rb340fdf97e3d4a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f0936d2ff44cc1" /><Relationship Type="http://schemas.openxmlformats.org/officeDocument/2006/relationships/notesMaster" Target="/ppt/notesMasters/notesMaster1.xml" Id="Rd9c4ecfd2f8445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605a2a707848ff" /><Relationship Type="http://schemas.openxmlformats.org/officeDocument/2006/relationships/notesMaster" Target="/ppt/notesMasters/notesMaster1.xml" Id="Rca317efa4fe2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2ace9234344a8d" /><Relationship Type="http://schemas.openxmlformats.org/officeDocument/2006/relationships/notesMaster" Target="/ppt/notesMasters/notesMaster1.xml" Id="Raa77a68ffee147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7d3f3f1e74793" /><Relationship Type="http://schemas.openxmlformats.org/officeDocument/2006/relationships/notesMaster" Target="/ppt/notesMasters/notesMaster1.xml" Id="Ra6ca72cb1e2942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이름, 연락처, 세 번째 사진을 사용. 담당 범위: 유닛 AI 관련 기능, 튜토리얼 기능(UI와 스토리 포함). 프로젝트 식별명은 현재 저장소의 StrikeForge.uproject 기준. 팀 인원과 기간은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콘텐츠 3개는 사용자 담당 영역을 바탕으로 추천한 구성. 최종 강조 순위는 본인 설명 가능 범위와 튜터 피드백에 맞춰 조정. 전체 프로젝트를 단독 제작했다고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전투 FSM은 UnitBase가, 이동 요청은 UnitAIController가 담당. 타깃 탐색과 사거리 판정의 구체적 우선순위는 본인 설명을 추가. Behavior Tree 또는 EQS 사용으로 표기하지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C:/FinalPro/Finalproject/Source/StrikeForge/Units/Unit/UnitBase.h</a:t>
            </a:r>
          </a:p>
          <a:p xmlns:a="http://schemas.openxmlformats.org/drawingml/2006/main">
            <a:r>
              <a:t>C:/FinalPro/Finalproject/Source/StrikeForge/Units/Unit/UnitBase.cpp</a:t>
            </a:r>
          </a:p>
          <a:p xmlns:a="http://schemas.openxmlformats.org/drawingml/2006/main">
            <a:r>
              <a:t>C:/FinalPro/Finalproject/Source/StrikeForge/Units/Unit/UnitAIController.h</a:t>
            </a:r>
          </a:p>
          <a:p xmlns:a="http://schemas.openxmlformats.org/drawingml/2006/main">
            <a:r>
              <a:t>C:/FinalPro/Finalproject/Source/StrikeForge/Game/Subsystem/SFCombatSubsystem.h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WorldSubsystem이 대기 상태를 보관하며 GameplayTag 목표 신호를 받는다. 이미 완료한 목표를 대기하지 않는 처리와 재진입 방지를 설명 후보로 활용.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C:/FinalPro/Finalproject/Source/StrikeForge/InGame/HUD/Tutorial/SFTutorialSubsystem.h</a:t>
            </a:r>
          </a:p>
          <a:p xmlns:a="http://schemas.openxmlformats.org/drawingml/2006/main">
            <a:r>
              <a:t>C:/FinalPro/Finalproject/Source/StrikeForge/InGame/HUD/Tutorial/SFTutorialSubsystem.cpp</a:t>
            </a:r>
          </a:p>
          <a:p xmlns:a="http://schemas.openxmlformats.org/drawingml/2006/main">
            <a:r>
              <a:t>C:/FinalPro/Finalproject/Source/StrikeForge/InGame/HUD/Tutorial/SFStageIntroData.h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DataTable 행에 대화, 선택지, NextNodeIndex, 초상화, 가이드 데이터를 보관. 분기는 대화 노드 분기를 의미하며 멀티 엔딩이나 저장 기능으로 확대해서 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C:/FinalPro/Finalproject/Source/StrikeForge/InGame/HUD/Tutorial/SFStageIntroData.h</a:t>
            </a:r>
          </a:p>
          <a:p xmlns:a="http://schemas.openxmlformats.org/drawingml/2006/main">
            <a:r>
              <a:t>C:/FinalPro/Finalproject/Source/StrikeForge/InGame/HUD/Tutorial/SFStageIntroWidget.cpp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목표에 대한 중복 요청 억제와 슬롯 추적 전용 재요청 간격이 있다. 기본 값 0.5초와 0.2초는 설정값이며 성능 개선 측정치가 아니다. 수정 전 영상이 없다면 전후 비교 대신 현재 동작 시연을 사용.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C:/FinalPro/Finalproject/Source/StrikeForge/Units/Unit/UnitAIController.h</a:t>
            </a:r>
          </a:p>
          <a:p xmlns:a="http://schemas.openxmlformats.org/drawingml/2006/main">
            <a:r>
              <a:t>C:/FinalPro/Finalproject/Source/StrikeForge/Units/Unit/UnitAIController.cpp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ClaimAttackSlot / ReleaseAttackSlot / GetAttackSlotLocation 근거. 공격 슬롯 주변 분산이 모든 군집 정체를 해결한다는 표현은 피하고 재현한 조건을 제시.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C:/FinalPro/Finalproject/Source/StrikeForge/Game/Subsystem/SFCombatSubsystem.h</a:t>
            </a:r>
          </a:p>
          <a:p xmlns:a="http://schemas.openxmlformats.org/drawingml/2006/main">
            <a:r>
              <a:t>C:/FinalPro/Finalproject/Source/StrikeForge/Game/Subsystem/SFCombatSubsystem.cpp</a:t>
            </a:r>
          </a:p>
          <a:p xmlns:a="http://schemas.openxmlformats.org/drawingml/2006/main">
            <a:r>
              <a:t>C:/FinalPro/Finalproject/Source/StrikeForge/Units/Unit/UnitBase.cpp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ExecuteCommand와 명령 큐 정의가 존재. 일반 이동은 반격하지 않고, 공격 이동은 도중 교전하며, HoldGround는 사거리 내 공격만 한다. 예외 처리는 실제 구현과 시험 결과를 확인해 적는다.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C:/FinalPro/Finalproject/Source/StrikeForge/Units/Unit/UnitBase.h</a:t>
            </a:r>
          </a:p>
          <a:p xmlns:a="http://schemas.openxmlformats.org/drawingml/2006/main">
            <a:r>
              <a:t>C:/FinalPro/Finalproject/Source/StrikeForge/Units/Unit/UnitBase.cpp</a:t>
            </a:r>
          </a:p>
          <a:p xmlns:a="http://schemas.openxmlformats.org/drawingml/2006/main">
            <a:r>
              <a:t>C:/FinalPro/Finalproject/Source/StrikeForge/Tests/SFForcedAttackTests.cpp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영역 / 월드 대상, 클릭 / 목표 태그 완료 조건, 고스트 가이드 정의가 있다. 실제 지원 해상도나 사용성 개선률은 별도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C:/FinalPro/Finalproject/Source/StrikeForge/InGame/HUD/Tutorial/SFTutorialSpotlightWidget.h</a:t>
            </a:r>
          </a:p>
          <a:p xmlns:a="http://schemas.openxmlformats.org/drawingml/2006/main">
            <a:r>
              <a:t>C:/FinalPro/Finalproject/Source/StrikeForge/InGame/HUD/Tutorial/SFTutorialSpotlightWidget.cpp</a:t>
            </a:r>
          </a:p>
          <a:p xmlns:a="http://schemas.openxmlformats.org/drawingml/2006/main">
            <a:r>
              <a:t>C:/FinalPro/Finalproject/Source/StrikeForge/InGame/HUD/Tutorial/SFTutorialGhostActor.cpp</a:t>
            </a:r>
          </a:p>
          <a:p xmlns:a="http://schemas.openxmlformats.org/drawingml/2006/main">
            <a:r>
              <a:t>C:/FinalPro/Finalproject/Source/StrikeForge/InGame/HUD/Tutorial/SFStageIntroData.h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OnObjectiveRecorded 신호와 별도 활성화 상태를 사용. 튜토리얼이 대기하지 않을 때도 완료 기록을 알리는 이유, bActivated와 bSpawningEnabled를 분리한 이유가 설명 후보.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C:/FinalPro/Finalproject/Source/StrikeForge/Units/Spawner/UnitSpawner.h</a:t>
            </a:r>
          </a:p>
          <a:p xmlns:a="http://schemas.openxmlformats.org/drawingml/2006/main">
            <a:r>
              <a:t>C:/FinalPro/Finalproject/Source/StrikeForge/Units/Spawner/UnitSpawner.cpp</a:t>
            </a:r>
          </a:p>
          <a:p xmlns:a="http://schemas.openxmlformats.org/drawingml/2006/main">
            <a:r>
              <a:t>C:/FinalPro/Finalproject/Source/StrikeForge/InGame/HUD/Tutorial/SFTutorialSubsystem.h</a:t>
            </a:r>
          </a:p>
          <a:p xmlns:a="http://schemas.openxmlformats.org/drawingml/2006/main">
            <a:r>
              <a:t>C:/FinalPro/Finalproject/Source/StrikeForge/Tests/SFTutorialSpawnGateTests.cpp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OpenStory / CloseStory / TurnPage, AvailableChapterCount, 일러스트 액터 수명 관리가 있다. 재실행 간 영구 저장 여부는 별도 확인.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사용자 담당 범위와 연결된 후보 슬라이드. 세부 기능별 직접 구현·수정 범위와 정량 성과는 작성자가 확인 후 추가. 이미지 교체 영역과 대괄호 문구는 의도된 템플릿 자리표시자.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C:/FinalPro/Finalproject/Source/StrikeForge/UI/SFStoryWidget.h</a:t>
            </a:r>
          </a:p>
          <a:p xmlns:a="http://schemas.openxmlformats.org/drawingml/2006/main">
            <a:r>
              <a:t>C:/FinalPro/Finalproject/Source/StrikeForge/UI/SFStoryWidget.cpp</a:t>
            </a:r>
          </a:p>
          <a:p xmlns:a="http://schemas.openxmlformats.org/drawingml/2006/main">
            <a:r>
              <a:t>C:/FinalPro/Finalproject/Source/StrikeForge/UI/SFStoryIllustrationActor.cpp</a:t>
            </a:r>
          </a:p>
          <a:p xmlns:a="http://schemas.openxmlformats.org/drawingml/2006/main">
            <a:r>
              <a:t>C:/FinalPro/Finalproject/Source/StrikeForge/Game/GameInstance/SFGameInstance.h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연락처. GitHub 및 시연 영상 주소는 제공되지 않아 입력 자리만 배치.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7624140c3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e31c343ed4ab3" /><Relationship Type="http://schemas.openxmlformats.org/officeDocument/2006/relationships/slideLayout" Target="/ppt/slideLayouts/slideLayout1.xml" Id="Rdfc1e41322654e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c1e41322654e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7587d59904337" /><Relationship Type="http://schemas.openxmlformats.org/officeDocument/2006/relationships/image" Target="/ppt/media/image.jpeg" Id="R741d08ea8808478e" /><Relationship Type="http://schemas.openxmlformats.org/officeDocument/2006/relationships/notesSlide" Target="/ppt/notesSlides/notesSlide1.xml" Id="R1bd8f6fa7a79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960cdbf0f4b9d" /><Relationship Type="http://schemas.openxmlformats.org/officeDocument/2006/relationships/notesSlide" Target="/ppt/notesSlides/notesSlide2.xml" Id="Ra1598a87fabd41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bfcbc45994592" /><Relationship Type="http://schemas.openxmlformats.org/officeDocument/2006/relationships/notesSlide" Target="/ppt/notesSlides/notesSlide3.xml" Id="Rf47f13cfd2f6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71b5e96249f6" /><Relationship Type="http://schemas.openxmlformats.org/officeDocument/2006/relationships/notesSlide" Target="/ppt/notesSlides/notesSlide4.xml" Id="R35cc1f6df478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d70bbe314311" /><Relationship Type="http://schemas.openxmlformats.org/officeDocument/2006/relationships/notesSlide" Target="/ppt/notesSlides/notesSlide5.xml" Id="Ra9cbc3f887294b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5ed9af09f4742" /><Relationship Type="http://schemas.openxmlformats.org/officeDocument/2006/relationships/notesSlide" Target="/ppt/notesSlides/notesSlide6.xml" Id="R7d41b3728e6f42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c1f6bc2974c06" /><Relationship Type="http://schemas.openxmlformats.org/officeDocument/2006/relationships/notesSlide" Target="/ppt/notesSlides/notesSlide7.xml" Id="R334bac19ca1940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e68f3b1904785" /><Relationship Type="http://schemas.openxmlformats.org/officeDocument/2006/relationships/notesSlide" Target="/ppt/notesSlides/notesSlide8.xml" Id="R9e03885f984540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e0058ced443e" /><Relationship Type="http://schemas.openxmlformats.org/officeDocument/2006/relationships/notesSlide" Target="/ppt/notesSlides/notesSlide9.xml" Id="Rab91257e51064b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63057ae654fc1" /><Relationship Type="http://schemas.openxmlformats.org/officeDocument/2006/relationships/notesSlide" Target="/ppt/notesSlides/notesSlide10.xml" Id="R195429f20e8147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b57e30fe843fc" /><Relationship Type="http://schemas.openxmlformats.org/officeDocument/2006/relationships/notesSlide" Target="/ppt/notesSlides/notesSlide11.xml" Id="Rf648a39d7e3246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c6ab5d9843dd" /><Relationship Type="http://schemas.openxmlformats.org/officeDocument/2006/relationships/notesSlide" Target="/ppt/notesSlides/notesSlide12.xml" Id="R9ff0415a146d42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d08ea8808478e"/>
          <a:stretch xmlns:a="http://schemas.openxmlformats.org/drawingml/2006/main"/>
        </p:blipFill>
        <p:spPr>
          <a:xfrm xmlns:a="http://schemas.openxmlformats.org/drawingml/2006/main">
            <a:off x="685800" y="1001724"/>
            <a:ext cx="3476625" cy="4473552"/>
          </a:xfrm>
          <a:prstGeom xmlns:a="http://schemas.openxmlformats.org/drawingml/2006/main" prst="rect">
            <a:avLst/>
          </a:prstGeom>
        </p:spPr>
      </p:pic>
      <p:sp>
        <p:nvSpPr>
          <p:cNvPr id="2" name="GAME PROGRAMMER">
            <a:extLst xmlns:a="http://schemas.openxmlformats.org/drawingml/2006/main">
              <a:ext uri="{FF2B5EF4-FFF2-40B4-BE49-F238E27FC236}">
                <a16:creationId xmlns:a16="http://schemas.microsoft.com/office/drawing/2014/main" id="{16073641-BBA1-4C87-86B6-5432842B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9620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GAME PROGRAMMER</a:t>
            </a:r>
          </a:p>
        </p:txBody>
      </p:sp>
      <p:sp>
        <p:nvSpPr>
          <p:cNvPr id="3" name="정창희">
            <a:extLst xmlns:a="http://schemas.openxmlformats.org/drawingml/2006/main">
              <a:ext uri="{FF2B5EF4-FFF2-40B4-BE49-F238E27FC236}">
                <a16:creationId xmlns:a16="http://schemas.microsoft.com/office/drawing/2014/main" id="{0157AE06-E205-4191-8042-BA34106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571625"/>
            <a:ext cx="647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</a:t>
            </a:r>
          </a:p>
        </p:txBody>
      </p:sp>
      <p:sp>
        <p:nvSpPr>
          <p:cNvPr id="4" name="유닛 AI · 튜토리얼 · UI · 스토리">
            <a:extLst xmlns:a="http://schemas.openxmlformats.org/drawingml/2006/main">
              <a:ext uri="{FF2B5EF4-FFF2-40B4-BE49-F238E27FC236}">
                <a16:creationId xmlns:a16="http://schemas.microsoft.com/office/drawing/2014/main" id="{D5DFC7F5-D81E-45D2-81F6-38B92CE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717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유닛 AI · 튜토리얼 · UI · 스토리</a:t>
            </a:r>
          </a:p>
        </p:txBody>
      </p:sp>
      <p:sp>
        <p:nvSpPr>
          <p:cNvPr id="5" name="010-2371-7654">
            <a:extLst xmlns:a="http://schemas.openxmlformats.org/drawingml/2006/main">
              <a:ext uri="{FF2B5EF4-FFF2-40B4-BE49-F238E27FC236}">
                <a16:creationId xmlns:a16="http://schemas.microsoft.com/office/drawing/2014/main" id="{D46A95D0-F148-4C68-B6E7-8303B332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00500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010-2371-7654</a:t>
            </a:r>
          </a:p>
        </p:txBody>
      </p:sp>
      <p:sp>
        <p:nvSpPr>
          <p:cNvPr id="6" name="cch77654@gmail.com">
            <a:extLst xmlns:a="http://schemas.openxmlformats.org/drawingml/2006/main">
              <a:ext uri="{FF2B5EF4-FFF2-40B4-BE49-F238E27FC236}">
                <a16:creationId xmlns:a16="http://schemas.microsoft.com/office/drawing/2014/main" id="{901F36A9-EE7A-4629-ACDC-468C56D0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00575"/>
            <a:ext cx="666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cch77654@gmail.com</a:t>
            </a:r>
          </a:p>
        </p:txBody>
      </p:sp>
      <p:sp>
        <p:nvSpPr>
          <p:cNvPr id="7" name="PORTFOLIO">
            <a:extLst xmlns:a="http://schemas.openxmlformats.org/drawingml/2006/main">
              <a:ext uri="{FF2B5EF4-FFF2-40B4-BE49-F238E27FC236}">
                <a16:creationId xmlns:a16="http://schemas.microsoft.com/office/drawing/2014/main" id="{C118914E-8E72-493D-A056-F6154669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8" name="StrikeForge  /  Unreal Engine 5.">
            <a:extLst xmlns:a="http://schemas.openxmlformats.org/drawingml/2006/main">
              <a:ext uri="{FF2B5EF4-FFF2-40B4-BE49-F238E27FC236}">
                <a16:creationId xmlns:a16="http://schemas.microsoft.com/office/drawing/2014/main" id="{32978D0D-050F-49DA-A7AE-BB120371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769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StrikeForge  /  Unreal Engine 5.5</a:t>
            </a:r>
          </a:p>
        </p:txBody>
      </p:sp>
    </p:spTree>
    <p:extLst>
      <p:ext uri="{BB962C8B-B14F-4D97-AF65-F5344CB8AC3E}">
        <p14:creationId xmlns:p14="http://schemas.microsoft.com/office/powerpoint/2010/main" val="98301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2">
            <a:extLst xmlns:a="http://schemas.openxmlformats.org/drawingml/2006/main">
              <a:ext uri="{FF2B5EF4-FFF2-40B4-BE49-F238E27FC236}">
                <a16:creationId xmlns:a16="http://schemas.microsoft.com/office/drawing/2014/main" id="{C60C0B57-0393-4794-A6A3-B48E8B84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목차">
            <a:extLst xmlns:a="http://schemas.openxmlformats.org/drawingml/2006/main">
              <a:ext uri="{FF2B5EF4-FFF2-40B4-BE49-F238E27FC236}">
                <a16:creationId xmlns:a16="http://schemas.microsoft.com/office/drawing/2014/main" id="{8D158522-6E4E-46FE-9019-DBFA01F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3" name="StrikeForge   /   Unreal Engine ">
            <a:extLst xmlns:a="http://schemas.openxmlformats.org/drawingml/2006/main">
              <a:ext uri="{FF2B5EF4-FFF2-40B4-BE49-F238E27FC236}">
                <a16:creationId xmlns:a16="http://schemas.microsoft.com/office/drawing/2014/main" id="{B047D482-6E75-4E0E-BA69-98592F1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StrikeForge   /   Unreal Engine 5.5   /   유닛 AI와 튜토리얼 담당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B1CA7BC6-ABC2-4349-B6C6-95B60A33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19AD6949-5B46-4A14-A762-6A7661D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유닛 AI 전투 판단">
            <a:extLst xmlns:a="http://schemas.openxmlformats.org/drawingml/2006/main">
              <a:ext uri="{FF2B5EF4-FFF2-40B4-BE49-F238E27FC236}">
                <a16:creationId xmlns:a16="http://schemas.microsoft.com/office/drawing/2014/main" id="{773FF326-2100-45AC-9D61-4F88CC10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유닛 AI 전투 판단</a:t>
            </a:r>
          </a:p>
        </p:txBody>
      </p:sp>
      <p:sp>
        <p:nvSpPr>
          <p:cNvPr id="7" name="전투 상태 전환과 타깃 선정">
            <a:extLst xmlns:a="http://schemas.openxmlformats.org/drawingml/2006/main">
              <a:ext uri="{FF2B5EF4-FFF2-40B4-BE49-F238E27FC236}">
                <a16:creationId xmlns:a16="http://schemas.microsoft.com/office/drawing/2014/main" id="{25DBCADB-A1B1-4633-AAC5-8A8CEB11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00325"/>
            <a:ext cx="876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전투 상태 전환과 타깃 선정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4F3674A4-2728-472C-9BC1-8C1F882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8122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6891C559-21E0-455B-8038-2FAA38F1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튜토리얼 진행 제어">
            <a:extLst xmlns:a="http://schemas.openxmlformats.org/drawingml/2006/main">
              <a:ext uri="{FF2B5EF4-FFF2-40B4-BE49-F238E27FC236}">
                <a16:creationId xmlns:a16="http://schemas.microsoft.com/office/drawing/2014/main" id="{F58686DC-C45A-44C1-BABC-45D3303E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8612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튜토리얼 진행 제어</a:t>
            </a:r>
          </a:p>
        </p:txBody>
      </p:sp>
      <p:sp>
        <p:nvSpPr>
          <p:cNvPr id="11" name="목표 달성 이벤트와 진행 상태 분리">
            <a:extLst xmlns:a="http://schemas.openxmlformats.org/drawingml/2006/main">
              <a:ext uri="{FF2B5EF4-FFF2-40B4-BE49-F238E27FC236}">
                <a16:creationId xmlns:a16="http://schemas.microsoft.com/office/drawing/2014/main" id="{13EC2697-C919-4B3E-BCEC-4B179B1D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10000"/>
            <a:ext cx="876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달성 이벤트와 진행 상태 분리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DD7D1E00-31DB-4366-9E09-4AF316F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3909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C3DDEF7A-BCA9-4EB8-B46B-1A670FB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스토리 분기·연출">
            <a:extLst xmlns:a="http://schemas.openxmlformats.org/drawingml/2006/main">
              <a:ext uri="{FF2B5EF4-FFF2-40B4-BE49-F238E27FC236}">
                <a16:creationId xmlns:a16="http://schemas.microsoft.com/office/drawing/2014/main" id="{9773BE75-84C7-44AF-BAC5-50155FD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스토리 분기·연출</a:t>
            </a:r>
          </a:p>
        </p:txBody>
      </p:sp>
      <p:sp>
        <p:nvSpPr>
          <p:cNvPr id="15" name="대화 데이터와 선택지 연결">
            <a:extLst xmlns:a="http://schemas.openxmlformats.org/drawingml/2006/main">
              <a:ext uri="{FF2B5EF4-FFF2-40B4-BE49-F238E27FC236}">
                <a16:creationId xmlns:a16="http://schemas.microsoft.com/office/drawing/2014/main" id="{0D0441D6-D812-4DA4-A5DA-50580641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9675"/>
            <a:ext cx="876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 데이터와 선택지 연결</a:t>
            </a:r>
          </a:p>
        </p:txBody>
      </p:sp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A326E53A-49F7-435A-A228-B743F88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600575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7" name="세부 구현 후보   06–11">
            <a:extLst xmlns:a="http://schemas.openxmlformats.org/drawingml/2006/main">
              <a:ext uri="{FF2B5EF4-FFF2-40B4-BE49-F238E27FC236}">
                <a16:creationId xmlns:a16="http://schemas.microsoft.com/office/drawing/2014/main" id="{AA50B0D0-349F-47E4-A8C4-19182442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5787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세부 구현 후보   06–11</a:t>
            </a:r>
          </a:p>
        </p:txBody>
      </p:sp>
    </p:spTree>
    <p:extLst>
      <p:ext uri="{BB962C8B-B14F-4D97-AF65-F5344CB8AC3E}">
        <p14:creationId xmlns:p14="http://schemas.microsoft.com/office/powerpoint/2010/main" val="287778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A0288CC0-3322-4F25-BA7C-FE560B96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유닛 AI 전투 판단">
            <a:extLst xmlns:a="http://schemas.openxmlformats.org/drawingml/2006/main">
              <a:ext uri="{FF2B5EF4-FFF2-40B4-BE49-F238E27FC236}">
                <a16:creationId xmlns:a16="http://schemas.microsoft.com/office/drawing/2014/main" id="{6EDAFE8C-9112-4E94-AB12-F2523FE5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유닛 AI 전투 판단</a:t>
            </a:r>
          </a:p>
        </p:txBody>
      </p:sp>
      <p:sp>
        <p:nvSpPr>
          <p:cNvPr id="3" name="전진 · 추격 · 교전 · 사망 상태와 타깃 선정">
            <a:extLst xmlns:a="http://schemas.openxmlformats.org/drawingml/2006/main">
              <a:ext uri="{FF2B5EF4-FFF2-40B4-BE49-F238E27FC236}">
                <a16:creationId xmlns:a16="http://schemas.microsoft.com/office/drawing/2014/main" id="{D4CCE27C-5717-402C-A954-D95A01B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전진 · 추격 · 교전 · 사망 상태와 타깃 선정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A892FB5A-4104-4A1A-8819-6A2ECD97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A3C8B-53F6-44D3-852C-33B15D65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4563F4CC-D654-4AF4-B069-3637FDE9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전투 장면 + 상태 전환도">
            <a:extLst xmlns:a="http://schemas.openxmlformats.org/drawingml/2006/main">
              <a:ext uri="{FF2B5EF4-FFF2-40B4-BE49-F238E27FC236}">
                <a16:creationId xmlns:a16="http://schemas.microsoft.com/office/drawing/2014/main" id="{F8FF630F-366E-4E6A-9FB5-A9612061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전투 장면 + 상태 전환도</a:t>
            </a:r>
          </a:p>
        </p:txBody>
      </p:sp>
      <p:sp>
        <p:nvSpPr>
          <p:cNvPr id="8" name="현재 상태와 전환 조건이 보이는 삽화">
            <a:extLst xmlns:a="http://schemas.openxmlformats.org/drawingml/2006/main">
              <a:ext uri="{FF2B5EF4-FFF2-40B4-BE49-F238E27FC236}">
                <a16:creationId xmlns:a16="http://schemas.microsoft.com/office/drawing/2014/main" id="{284FA55E-F280-4AC5-8B0A-3F08CD1F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상태와 전환 조건이 보이는 삽화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E950273C-059B-4F5E-A23D-759514A7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51FCE568-F878-4089-9FD3-06F99CDA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전투 판단과 이동 책임 분리">
            <a:extLst xmlns:a="http://schemas.openxmlformats.org/drawingml/2006/main">
              <a:ext uri="{FF2B5EF4-FFF2-40B4-BE49-F238E27FC236}">
                <a16:creationId xmlns:a16="http://schemas.microsoft.com/office/drawing/2014/main" id="{F62E856B-CD9A-499D-9821-ECFD732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전투 판단과 이동 책임 분리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754206FD-A4E6-485F-9613-76F6B9CF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EC5D7212-898F-4E4C-812A-35E66C6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C949B3C7-7F66-4E55-B4CA-763A591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상태 전환이 보이는 짧은 시연">
            <a:extLst xmlns:a="http://schemas.openxmlformats.org/drawingml/2006/main">
              <a:ext uri="{FF2B5EF4-FFF2-40B4-BE49-F238E27FC236}">
                <a16:creationId xmlns:a16="http://schemas.microsoft.com/office/drawing/2014/main" id="{A5E22BB5-3378-4450-AB86-58320A5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 전환이 보이는 짧은 시연</a:t>
            </a:r>
          </a:p>
        </p:txBody>
      </p:sp>
    </p:spTree>
    <p:extLst>
      <p:ext uri="{BB962C8B-B14F-4D97-AF65-F5344CB8AC3E}">
        <p14:creationId xmlns:p14="http://schemas.microsoft.com/office/powerpoint/2010/main" val="9975839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38D09028-94E3-43C9-A2D8-C0EE95C9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튜토리얼 진행 제어">
            <a:extLst xmlns:a="http://schemas.openxmlformats.org/drawingml/2006/main">
              <a:ext uri="{FF2B5EF4-FFF2-40B4-BE49-F238E27FC236}">
                <a16:creationId xmlns:a16="http://schemas.microsoft.com/office/drawing/2014/main" id="{6F65172D-CEC2-4BC4-A975-B96E4FB1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튜토리얼 진행 제어</a:t>
            </a:r>
          </a:p>
        </p:txBody>
      </p:sp>
      <p:sp>
        <p:nvSpPr>
          <p:cNvPr id="3" name="목표 달성을 기다리고 다음 안내를 이어가는 구조">
            <a:extLst xmlns:a="http://schemas.openxmlformats.org/drawingml/2006/main">
              <a:ext uri="{FF2B5EF4-FFF2-40B4-BE49-F238E27FC236}">
                <a16:creationId xmlns:a16="http://schemas.microsoft.com/office/drawing/2014/main" id="{94E2F60B-FB71-4B47-ABFF-65F7051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달성을 기다리고 다음 안내를 이어가는 구조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714AEF8D-BC8D-44E7-9701-E9B05432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8CE7B-27A5-4535-85C5-2E8F03C2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76BA04F6-3883-4963-90F4-6AADC8A6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안내 / 플레이 / 목표 달성">
            <a:extLst xmlns:a="http://schemas.openxmlformats.org/drawingml/2006/main">
              <a:ext uri="{FF2B5EF4-FFF2-40B4-BE49-F238E27FC236}">
                <a16:creationId xmlns:a16="http://schemas.microsoft.com/office/drawing/2014/main" id="{CFFCBBF6-C026-48BB-B854-BADE9F9F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안내 / 플레이 / 목표 달성</a:t>
            </a:r>
          </a:p>
        </p:txBody>
      </p:sp>
      <p:sp>
        <p:nvSpPr>
          <p:cNvPr id="8" name="위젯이 닫힌 동안에도 이어지는 진행 흐름">
            <a:extLst xmlns:a="http://schemas.openxmlformats.org/drawingml/2006/main">
              <a:ext uri="{FF2B5EF4-FFF2-40B4-BE49-F238E27FC236}">
                <a16:creationId xmlns:a16="http://schemas.microsoft.com/office/drawing/2014/main" id="{FDAA67A7-CB2E-481A-9120-E790504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위젯이 닫힌 동안에도 이어지는 진행 흐름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6A91C03E-69E7-4ECD-AE34-72A1E781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A01362D2-BEEB-4CC8-BEB0-D4B325DC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진행 상태와 UI 수명 분리">
            <a:extLst xmlns:a="http://schemas.openxmlformats.org/drawingml/2006/main">
              <a:ext uri="{FF2B5EF4-FFF2-40B4-BE49-F238E27FC236}">
                <a16:creationId xmlns:a16="http://schemas.microsoft.com/office/drawing/2014/main" id="{BDE082A9-7201-4C48-A5A7-6C96CE52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상태와 UI 수명 분리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84630A27-696E-43EC-A015-78B7E846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B5E6264E-B7C7-4762-9A99-0D56CD4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8000FC3C-7544-4E9F-A539-FBD64FE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안내 종료 후 재개되는 장면">
            <a:extLst xmlns:a="http://schemas.openxmlformats.org/drawingml/2006/main">
              <a:ext uri="{FF2B5EF4-FFF2-40B4-BE49-F238E27FC236}">
                <a16:creationId xmlns:a16="http://schemas.microsoft.com/office/drawing/2014/main" id="{B6768BB0-D4B7-4E21-B75C-27741B1A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안내 종료 후 재개되는 장면</a:t>
            </a:r>
          </a:p>
        </p:txBody>
      </p:sp>
    </p:spTree>
    <p:extLst>
      <p:ext uri="{BB962C8B-B14F-4D97-AF65-F5344CB8AC3E}">
        <p14:creationId xmlns:p14="http://schemas.microsoft.com/office/powerpoint/2010/main" val="5776952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5">
            <a:extLst xmlns:a="http://schemas.openxmlformats.org/drawingml/2006/main">
              <a:ext uri="{FF2B5EF4-FFF2-40B4-BE49-F238E27FC236}">
                <a16:creationId xmlns:a16="http://schemas.microsoft.com/office/drawing/2014/main" id="{64A505B4-BAB2-44E0-ABF5-FB228BB6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스토리 분기·연출">
            <a:extLst xmlns:a="http://schemas.openxmlformats.org/drawingml/2006/main">
              <a:ext uri="{FF2B5EF4-FFF2-40B4-BE49-F238E27FC236}">
                <a16:creationId xmlns:a16="http://schemas.microsoft.com/office/drawing/2014/main" id="{9788B274-C182-4F9A-A4B1-EA36B139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스토리 분기·연출</a:t>
            </a:r>
          </a:p>
        </p:txBody>
      </p:sp>
      <p:sp>
        <p:nvSpPr>
          <p:cNvPr id="3" name="대화 노드와 선택지로 구성한 스테이지 스토리">
            <a:extLst xmlns:a="http://schemas.openxmlformats.org/drawingml/2006/main">
              <a:ext uri="{FF2B5EF4-FFF2-40B4-BE49-F238E27FC236}">
                <a16:creationId xmlns:a16="http://schemas.microsoft.com/office/drawing/2014/main" id="{2307A97B-2E3E-421D-8484-DF4E75F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 노드와 선택지로 구성한 스테이지 스토리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B23E99B8-AD20-4CEA-A454-8BEC5899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88970-3934-4DB2-9536-480888A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084CFBE2-D4B8-47FC-B774-77EF4C2B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대화 화면 + 선택지 분기">
            <a:extLst xmlns:a="http://schemas.openxmlformats.org/drawingml/2006/main">
              <a:ext uri="{FF2B5EF4-FFF2-40B4-BE49-F238E27FC236}">
                <a16:creationId xmlns:a16="http://schemas.microsoft.com/office/drawing/2014/main" id="{BD095555-32F0-4D5A-8F2D-3A1461C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 화면 + 선택지 분기</a:t>
            </a:r>
          </a:p>
        </p:txBody>
      </p:sp>
      <p:sp>
        <p:nvSpPr>
          <p:cNvPr id="8" name="선택 전후의 흐름이 보이는 화면 두 장">
            <a:extLst xmlns:a="http://schemas.openxmlformats.org/drawingml/2006/main">
              <a:ext uri="{FF2B5EF4-FFF2-40B4-BE49-F238E27FC236}">
                <a16:creationId xmlns:a16="http://schemas.microsoft.com/office/drawing/2014/main" id="{89C1620C-19D4-4281-9383-6CE7789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전후의 흐름이 보이는 화면 두 장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4D049BD1-5FCE-4D61-AA80-F294E39A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9AA2C658-16CA-442B-9189-B1DB7AC2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대화 내용과 진행 규칙 분리">
            <a:extLst xmlns:a="http://schemas.openxmlformats.org/drawingml/2006/main">
              <a:ext uri="{FF2B5EF4-FFF2-40B4-BE49-F238E27FC236}">
                <a16:creationId xmlns:a16="http://schemas.microsoft.com/office/drawing/2014/main" id="{7BE9324D-3D04-4E56-9003-6872667F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대화 내용과 진행 규칙 분리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D836FB39-2CFB-42E3-A425-A4817354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FCAD801B-D318-495F-A51B-5B208BE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FE2BE304-79D8-43EC-9ED6-C5E7937F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선택지와 다음 노드 연결 장면">
            <a:extLst xmlns:a="http://schemas.openxmlformats.org/drawingml/2006/main">
              <a:ext uri="{FF2B5EF4-FFF2-40B4-BE49-F238E27FC236}">
                <a16:creationId xmlns:a16="http://schemas.microsoft.com/office/drawing/2014/main" id="{5F1F79FE-0715-46D6-AC1B-B83A0AB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선택지와 다음 노드 연결 장면</a:t>
            </a:r>
          </a:p>
        </p:txBody>
      </p:sp>
    </p:spTree>
    <p:extLst>
      <p:ext uri="{BB962C8B-B14F-4D97-AF65-F5344CB8AC3E}">
        <p14:creationId xmlns:p14="http://schemas.microsoft.com/office/powerpoint/2010/main" val="73486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6">
            <a:extLst xmlns:a="http://schemas.openxmlformats.org/drawingml/2006/main">
              <a:ext uri="{FF2B5EF4-FFF2-40B4-BE49-F238E27FC236}">
                <a16:creationId xmlns:a16="http://schemas.microsoft.com/office/drawing/2014/main" id="{97849819-2C5D-4514-BD03-2E55DD4B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군집 이동과 경로 재요청">
            <a:extLst xmlns:a="http://schemas.openxmlformats.org/drawingml/2006/main">
              <a:ext uri="{FF2B5EF4-FFF2-40B4-BE49-F238E27FC236}">
                <a16:creationId xmlns:a16="http://schemas.microsoft.com/office/drawing/2014/main" id="{9F6DF1F5-9217-4320-B041-6E3B8DBB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군집 이동과 경로 재요청</a:t>
            </a:r>
          </a:p>
        </p:txBody>
      </p:sp>
      <p:sp>
        <p:nvSpPr>
          <p:cNvPr id="3" name="NavMesh와 DetourCrowd를 사용하는 이동 제어">
            <a:extLst xmlns:a="http://schemas.openxmlformats.org/drawingml/2006/main">
              <a:ext uri="{FF2B5EF4-FFF2-40B4-BE49-F238E27FC236}">
                <a16:creationId xmlns:a16="http://schemas.microsoft.com/office/drawing/2014/main" id="{344E9B71-C766-45ED-BDA8-BFFCA6D8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NavMesh와 DetourCrowd를 사용하는 이동 제어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780C3F86-32DD-4519-8363-C53B4B40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8EAFE-C4D1-42B1-B6B6-08030D3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110931F9-7F4B-49B9-A2C2-46DD733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같은 구간의 이동 비교">
            <a:extLst xmlns:a="http://schemas.openxmlformats.org/drawingml/2006/main">
              <a:ext uri="{FF2B5EF4-FFF2-40B4-BE49-F238E27FC236}">
                <a16:creationId xmlns:a16="http://schemas.microsoft.com/office/drawing/2014/main" id="{97B16753-A75B-4A01-B663-42D28483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구간의 이동 비교</a:t>
            </a:r>
          </a:p>
        </p:txBody>
      </p:sp>
      <p:sp>
        <p:nvSpPr>
          <p:cNvPr id="8" name="다수 유닛이 목표에 접근하는 장면">
            <a:extLst xmlns:a="http://schemas.openxmlformats.org/drawingml/2006/main">
              <a:ext uri="{FF2B5EF4-FFF2-40B4-BE49-F238E27FC236}">
                <a16:creationId xmlns:a16="http://schemas.microsoft.com/office/drawing/2014/main" id="{F7A3AD9B-A327-4C34-86AB-D8A2FE0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다수 유닛이 목표에 접근하는 장면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061D7DE6-B80C-4706-B7FE-F6CD9BF3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B1D77CF1-E4D9-40AE-A85C-E72707B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이동 요청 빈도와 반응성 조절">
            <a:extLst xmlns:a="http://schemas.openxmlformats.org/drawingml/2006/main">
              <a:ext uri="{FF2B5EF4-FFF2-40B4-BE49-F238E27FC236}">
                <a16:creationId xmlns:a16="http://schemas.microsoft.com/office/drawing/2014/main" id="{98E8F097-67E4-4DA3-9B6B-432F52C1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이동 요청 빈도와 반응성 조절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10D7FA73-FEFF-42F0-9D8C-F6A68506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92F8E743-AAD1-41E1-8009-E242AD29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5F53A156-04D2-4834-8443-E2F31053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재요청 로그와 이동 시연">
            <a:extLst xmlns:a="http://schemas.openxmlformats.org/drawingml/2006/main">
              <a:ext uri="{FF2B5EF4-FFF2-40B4-BE49-F238E27FC236}">
                <a16:creationId xmlns:a16="http://schemas.microsoft.com/office/drawing/2014/main" id="{3D0A8409-CCA0-40C7-A158-C8298F4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재요청 로그와 이동 시연</a:t>
            </a:r>
          </a:p>
        </p:txBody>
      </p:sp>
    </p:spTree>
    <p:extLst>
      <p:ext uri="{BB962C8B-B14F-4D97-AF65-F5344CB8AC3E}">
        <p14:creationId xmlns:p14="http://schemas.microsoft.com/office/powerpoint/2010/main" val="241492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7">
            <a:extLst xmlns:a="http://schemas.openxmlformats.org/drawingml/2006/main">
              <a:ext uri="{FF2B5EF4-FFF2-40B4-BE49-F238E27FC236}">
                <a16:creationId xmlns:a16="http://schemas.microsoft.com/office/drawing/2014/main" id="{DB8565FB-BBE1-4DB3-AD5F-D325552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근접 공격 위치 분산">
            <a:extLst xmlns:a="http://schemas.openxmlformats.org/drawingml/2006/main">
              <a:ext uri="{FF2B5EF4-FFF2-40B4-BE49-F238E27FC236}">
                <a16:creationId xmlns:a16="http://schemas.microsoft.com/office/drawing/2014/main" id="{B5A539A6-4BAF-4791-97F5-E821BF9E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근접 공격 위치 분산</a:t>
            </a:r>
          </a:p>
        </p:txBody>
      </p:sp>
      <p:sp>
        <p:nvSpPr>
          <p:cNvPr id="3" name="대상 주변의 공격 슬롯을 배정하고 반환하는 구조">
            <a:extLst xmlns:a="http://schemas.openxmlformats.org/drawingml/2006/main">
              <a:ext uri="{FF2B5EF4-FFF2-40B4-BE49-F238E27FC236}">
                <a16:creationId xmlns:a16="http://schemas.microsoft.com/office/drawing/2014/main" id="{90B6EFAA-1EF6-4C69-B346-C7832421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대상 주변의 공격 슬롯을 배정하고 반환하는 구조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FB36B48D-F369-4087-8275-073D9FB5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DB33D-DC82-476F-AF7A-3090A94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E4B93DA3-FAF2-43A2-9B0E-44554DEF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타깃 주변 공격 위치">
            <a:extLst xmlns:a="http://schemas.openxmlformats.org/drawingml/2006/main">
              <a:ext uri="{FF2B5EF4-FFF2-40B4-BE49-F238E27FC236}">
                <a16:creationId xmlns:a16="http://schemas.microsoft.com/office/drawing/2014/main" id="{AF5628D1-8373-42EA-AC1F-F10436AF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타깃 주변 공격 위치</a:t>
            </a:r>
          </a:p>
        </p:txBody>
      </p:sp>
      <p:sp>
        <p:nvSpPr>
          <p:cNvPr id="8" name="여러 유닛의 접근 위치를 표시한 삽화">
            <a:extLst xmlns:a="http://schemas.openxmlformats.org/drawingml/2006/main">
              <a:ext uri="{FF2B5EF4-FFF2-40B4-BE49-F238E27FC236}">
                <a16:creationId xmlns:a16="http://schemas.microsoft.com/office/drawing/2014/main" id="{9432AEB6-A016-4158-803B-C914009D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여러 유닛의 접근 위치를 표시한 삽화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BC9F6F77-FB42-498A-9950-62AD83C7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6C547DB1-E2C9-48EF-80B1-7686B614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공격 슬롯의 점유와 반환">
            <a:extLst xmlns:a="http://schemas.openxmlformats.org/drawingml/2006/main">
              <a:ext uri="{FF2B5EF4-FFF2-40B4-BE49-F238E27FC236}">
                <a16:creationId xmlns:a16="http://schemas.microsoft.com/office/drawing/2014/main" id="{7649F054-5CDA-4552-8991-2E41C711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공격 슬롯의 점유와 반환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F2FE4585-57E4-4123-B241-06AAE6E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BEB6EB21-05F8-4D30-B9CE-B30EBC59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571AF44D-23DC-475F-9547-C8C8860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진입·사망·타깃 변경 시연">
            <a:extLst xmlns:a="http://schemas.openxmlformats.org/drawingml/2006/main">
              <a:ext uri="{FF2B5EF4-FFF2-40B4-BE49-F238E27FC236}">
                <a16:creationId xmlns:a16="http://schemas.microsoft.com/office/drawing/2014/main" id="{BD294ABC-D108-493B-B5D1-6D686FD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진입·사망·타깃 변경 시연</a:t>
            </a:r>
          </a:p>
        </p:txBody>
      </p:sp>
    </p:spTree>
    <p:extLst>
      <p:ext uri="{BB962C8B-B14F-4D97-AF65-F5344CB8AC3E}">
        <p14:creationId xmlns:p14="http://schemas.microsoft.com/office/powerpoint/2010/main" val="264921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8">
            <a:extLst xmlns:a="http://schemas.openxmlformats.org/drawingml/2006/main">
              <a:ext uri="{FF2B5EF4-FFF2-40B4-BE49-F238E27FC236}">
                <a16:creationId xmlns:a16="http://schemas.microsoft.com/office/drawing/2014/main" id="{E4F826DE-4CAC-4E59-9E47-8861478F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플레이어 명령과 자동 전투">
            <a:extLst xmlns:a="http://schemas.openxmlformats.org/drawingml/2006/main">
              <a:ext uri="{FF2B5EF4-FFF2-40B4-BE49-F238E27FC236}">
                <a16:creationId xmlns:a16="http://schemas.microsoft.com/office/drawing/2014/main" id="{4382AFD7-5409-441C-96AD-46D03279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플레이어 명령과 자동 전투</a:t>
            </a:r>
          </a:p>
        </p:txBody>
      </p:sp>
      <p:sp>
        <p:nvSpPr>
          <p:cNvPr id="3" name="이동 · 공격 이동 · 대상 공격 · 정지 · 제자리 고수">
            <a:extLst xmlns:a="http://schemas.openxmlformats.org/drawingml/2006/main">
              <a:ext uri="{FF2B5EF4-FFF2-40B4-BE49-F238E27FC236}">
                <a16:creationId xmlns:a16="http://schemas.microsoft.com/office/drawing/2014/main" id="{749B626E-F133-402F-9EAB-BE951E2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이동 · 공격 이동 · 대상 공격 · 정지 · 제자리 고수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16D8E506-DF82-435F-ABA3-03840F39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36B64-A82C-49D8-AB78-08EDDB1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77D7E763-9E71-443B-96CE-1A6A818B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같은 상황, 다른 명령">
            <a:extLst xmlns:a="http://schemas.openxmlformats.org/drawingml/2006/main">
              <a:ext uri="{FF2B5EF4-FFF2-40B4-BE49-F238E27FC236}">
                <a16:creationId xmlns:a16="http://schemas.microsoft.com/office/drawing/2014/main" id="{CA0684B6-5658-44A4-8BBD-9F693227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상황, 다른 명령</a:t>
            </a:r>
          </a:p>
        </p:txBody>
      </p:sp>
      <p:sp>
        <p:nvSpPr>
          <p:cNvPr id="8" name="이동과 공격 이동의 행동 차이를 보여 주는 장면">
            <a:extLst xmlns:a="http://schemas.openxmlformats.org/drawingml/2006/main">
              <a:ext uri="{FF2B5EF4-FFF2-40B4-BE49-F238E27FC236}">
                <a16:creationId xmlns:a16="http://schemas.microsoft.com/office/drawing/2014/main" id="{16F8BB42-C21B-44AA-8CDA-CA4DF80F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이동과 공격 이동의 행동 차이를 보여 주는 장면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8C143E67-558D-4099-BAA4-4CFBCFE6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DB3D695E-FCB2-40DD-A142-0720E29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명령에 따른 전투 규칙 구분">
            <a:extLst xmlns:a="http://schemas.openxmlformats.org/drawingml/2006/main">
              <a:ext uri="{FF2B5EF4-FFF2-40B4-BE49-F238E27FC236}">
                <a16:creationId xmlns:a16="http://schemas.microsoft.com/office/drawing/2014/main" id="{61FDBD93-32E7-4EE2-9915-37BC3BA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명령에 따른 전투 규칙 구분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795F7840-B4F4-45A3-BA81-DE8DFE16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70851919-75E3-419E-A4E4-AF44685A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3E267E7C-B41E-4D55-90B4-6E1858B0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명령 교체와 예외 상황 시연">
            <a:extLst xmlns:a="http://schemas.openxmlformats.org/drawingml/2006/main">
              <a:ext uri="{FF2B5EF4-FFF2-40B4-BE49-F238E27FC236}">
                <a16:creationId xmlns:a16="http://schemas.microsoft.com/office/drawing/2014/main" id="{B90E970A-68F5-413E-AFFD-B8432AE4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명령 교체와 예외 상황 시연</a:t>
            </a:r>
          </a:p>
        </p:txBody>
      </p:sp>
    </p:spTree>
    <p:extLst>
      <p:ext uri="{BB962C8B-B14F-4D97-AF65-F5344CB8AC3E}">
        <p14:creationId xmlns:p14="http://schemas.microsoft.com/office/powerpoint/2010/main" val="396506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9">
            <a:extLst xmlns:a="http://schemas.openxmlformats.org/drawingml/2006/main">
              <a:ext uri="{FF2B5EF4-FFF2-40B4-BE49-F238E27FC236}">
                <a16:creationId xmlns:a16="http://schemas.microsoft.com/office/drawing/2014/main" id="{588D5729-9D8E-4D59-B1D2-F0C0126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튜토리얼 UI와 스포트라이트">
            <a:extLst xmlns:a="http://schemas.openxmlformats.org/drawingml/2006/main">
              <a:ext uri="{FF2B5EF4-FFF2-40B4-BE49-F238E27FC236}">
                <a16:creationId xmlns:a16="http://schemas.microsoft.com/office/drawing/2014/main" id="{04D7C569-D061-4F11-B887-1C7F2D2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튜토리얼 UI와 스포트라이트</a:t>
            </a:r>
          </a:p>
        </p:txBody>
      </p:sp>
      <p:sp>
        <p:nvSpPr>
          <p:cNvPr id="3" name="현재 조작할 화면 영역과 월드 위치를 강조하는 안내">
            <a:extLst xmlns:a="http://schemas.openxmlformats.org/drawingml/2006/main">
              <a:ext uri="{FF2B5EF4-FFF2-40B4-BE49-F238E27FC236}">
                <a16:creationId xmlns:a16="http://schemas.microsoft.com/office/drawing/2014/main" id="{B5403070-D34E-4738-8B52-D77ACB28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조작할 화면 영역과 월드 위치를 강조하는 안내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5898F60E-E77C-40E6-87D9-0A7244C7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B1842-402F-4663-9D80-8EC09F3C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6FB5E800-BDA6-4BCD-B2A8-31E58A3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가이드 UI 대표 화면">
            <a:extLst xmlns:a="http://schemas.openxmlformats.org/drawingml/2006/main">
              <a:ext uri="{FF2B5EF4-FFF2-40B4-BE49-F238E27FC236}">
                <a16:creationId xmlns:a16="http://schemas.microsoft.com/office/drawing/2014/main" id="{739E1EFF-4823-411B-AB02-E402067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가이드 UI 대표 화면</a:t>
            </a:r>
          </a:p>
        </p:txBody>
      </p:sp>
      <p:sp>
        <p:nvSpPr>
          <p:cNvPr id="8" name="스포트라이트와 설명 영역을 크게 보여 주는 캡처">
            <a:extLst xmlns:a="http://schemas.openxmlformats.org/drawingml/2006/main">
              <a:ext uri="{FF2B5EF4-FFF2-40B4-BE49-F238E27FC236}">
                <a16:creationId xmlns:a16="http://schemas.microsoft.com/office/drawing/2014/main" id="{3BAD317E-C151-4019-B712-75E1DE1D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스포트라이트와 설명 영역을 크게 보여 주는 캡처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F2B6EC80-8CFB-4860-9E19-2FBC3631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4F6C5925-6DDC-4366-B449-1CF51ADA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조작 대상과 완료 조건 연결">
            <a:extLst xmlns:a="http://schemas.openxmlformats.org/drawingml/2006/main">
              <a:ext uri="{FF2B5EF4-FFF2-40B4-BE49-F238E27FC236}">
                <a16:creationId xmlns:a16="http://schemas.microsoft.com/office/drawing/2014/main" id="{E057F558-DFE3-4859-A5C0-A2F9AF16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조작 대상과 완료 조건 연결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A847A63A-C9F1-4BE1-9765-FB796357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8159C5AB-5931-4B3F-A5F1-9A9ED57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2266EC19-A081-474E-8071-5B7E413C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해상도별 안내 위치와 입력 시연">
            <a:extLst xmlns:a="http://schemas.openxmlformats.org/drawingml/2006/main">
              <a:ext uri="{FF2B5EF4-FFF2-40B4-BE49-F238E27FC236}">
                <a16:creationId xmlns:a16="http://schemas.microsoft.com/office/drawing/2014/main" id="{935BC0A8-51A2-45CF-9E38-A2BA5BB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해상도별 안내 위치와 입력 시연</a:t>
            </a:r>
          </a:p>
        </p:txBody>
      </p:sp>
    </p:spTree>
    <p:extLst>
      <p:ext uri="{BB962C8B-B14F-4D97-AF65-F5344CB8AC3E}">
        <p14:creationId xmlns:p14="http://schemas.microsoft.com/office/powerpoint/2010/main" val="1753094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10">
            <a:extLst xmlns:a="http://schemas.openxmlformats.org/drawingml/2006/main">
              <a:ext uri="{FF2B5EF4-FFF2-40B4-BE49-F238E27FC236}">
                <a16:creationId xmlns:a16="http://schemas.microsoft.com/office/drawing/2014/main" id="{4F50D799-BD51-4F1F-AE29-BFE6601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튜토리얼과 적 스폰 연동">
            <a:extLst xmlns:a="http://schemas.openxmlformats.org/drawingml/2006/main">
              <a:ext uri="{FF2B5EF4-FFF2-40B4-BE49-F238E27FC236}">
                <a16:creationId xmlns:a16="http://schemas.microsoft.com/office/drawing/2014/main" id="{4E4B555D-1631-4D2D-8E2D-B7E11B7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튜토리얼과 적 스폰 연동</a:t>
            </a:r>
          </a:p>
        </p:txBody>
      </p:sp>
      <p:sp>
        <p:nvSpPr>
          <p:cNvPr id="3" name="목표 달성 시점에 맞춰 적의 등장을 제어하는 구조">
            <a:extLst xmlns:a="http://schemas.openxmlformats.org/drawingml/2006/main">
              <a:ext uri="{FF2B5EF4-FFF2-40B4-BE49-F238E27FC236}">
                <a16:creationId xmlns:a16="http://schemas.microsoft.com/office/drawing/2014/main" id="{34D8A1AB-A937-4813-BD71-0F1ABEA4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달성 시점에 맞춰 적의 등장을 제어하는 구조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853EC5CC-7978-4997-A888-D7808E8D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559DD-9422-4DF4-97AA-043981F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E1C18D4E-4D1A-427C-894F-AF6F4A3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목표 완료 전 / 완료 후">
            <a:extLst xmlns:a="http://schemas.openxmlformats.org/drawingml/2006/main">
              <a:ext uri="{FF2B5EF4-FFF2-40B4-BE49-F238E27FC236}">
                <a16:creationId xmlns:a16="http://schemas.microsoft.com/office/drawing/2014/main" id="{38190616-9199-4873-8D72-F9DC2F46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목표 완료 전 / 완료 후</a:t>
            </a:r>
          </a:p>
        </p:txBody>
      </p:sp>
      <p:sp>
        <p:nvSpPr>
          <p:cNvPr id="8" name="같은 맵에서 적 등장 시점이 달라지는 장면">
            <a:extLst xmlns:a="http://schemas.openxmlformats.org/drawingml/2006/main">
              <a:ext uri="{FF2B5EF4-FFF2-40B4-BE49-F238E27FC236}">
                <a16:creationId xmlns:a16="http://schemas.microsoft.com/office/drawing/2014/main" id="{6D757B83-B4FE-40B5-9518-BC2242D7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맵에서 적 등장 시점이 달라지는 장면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0A6F9706-E5AB-4247-A4EE-0928C73F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78B10EA9-418A-4AB4-AF2B-D4328C45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시나리오 게이트와 스폰 토글 분리">
            <a:extLst xmlns:a="http://schemas.openxmlformats.org/drawingml/2006/main">
              <a:ext uri="{FF2B5EF4-FFF2-40B4-BE49-F238E27FC236}">
                <a16:creationId xmlns:a16="http://schemas.microsoft.com/office/drawing/2014/main" id="{11CCBBAA-F836-40E1-9595-EE300CB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시나리오 게이트와 스폰 토글 분리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83BFF311-5E7F-4EAB-B88F-AECD0489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50E8C083-FE92-4988-AEA1-E58A40C7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7D5E43C0-6803-4E85-B5C5-09D9BE40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선행 완료·재활성화 상황 검증">
            <a:extLst xmlns:a="http://schemas.openxmlformats.org/drawingml/2006/main">
              <a:ext uri="{FF2B5EF4-FFF2-40B4-BE49-F238E27FC236}">
                <a16:creationId xmlns:a16="http://schemas.microsoft.com/office/drawing/2014/main" id="{176426F0-460A-4B7B-87D9-5F6E8D8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선행 완료·재활성화 상황 검증</a:t>
            </a:r>
          </a:p>
        </p:txBody>
      </p:sp>
    </p:spTree>
    <p:extLst>
      <p:ext uri="{BB962C8B-B14F-4D97-AF65-F5344CB8AC3E}">
        <p14:creationId xmlns:p14="http://schemas.microsoft.com/office/powerpoint/2010/main" val="16656161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11">
            <a:extLst xmlns:a="http://schemas.openxmlformats.org/drawingml/2006/main">
              <a:ext uri="{FF2B5EF4-FFF2-40B4-BE49-F238E27FC236}">
                <a16:creationId xmlns:a16="http://schemas.microsoft.com/office/drawing/2014/main" id="{5AF33FFE-89A4-4E76-AF87-1D4285D1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스토리 다시 보기">
            <a:extLst xmlns:a="http://schemas.openxmlformats.org/drawingml/2006/main">
              <a:ext uri="{FF2B5EF4-FFF2-40B4-BE49-F238E27FC236}">
                <a16:creationId xmlns:a16="http://schemas.microsoft.com/office/drawing/2014/main" id="{76DF6E9E-9D91-4E04-BE3C-09DD5593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스토리 다시 보기</a:t>
            </a:r>
          </a:p>
        </p:txBody>
      </p:sp>
      <p:sp>
        <p:nvSpPr>
          <p:cNvPr id="3" name="챕터 해금과 페이지 전환을 갖춘 로비 스토리 UI">
            <a:extLst xmlns:a="http://schemas.openxmlformats.org/drawingml/2006/main">
              <a:ext uri="{FF2B5EF4-FFF2-40B4-BE49-F238E27FC236}">
                <a16:creationId xmlns:a16="http://schemas.microsoft.com/office/drawing/2014/main" id="{C1521A8D-0534-4055-8082-5EDCCEE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챕터 해금과 페이지 전환을 갖춘 로비 스토리 UI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39C44159-CDFD-4A07-B992-3E5CCC5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AAA38-771D-4104-B158-443BAA30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71247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84FF"/>
            </a:solidFill>
          </a:ln>
        </p:spPr>
      </p:sp>
      <p:sp>
        <p:nvSpPr>
          <p:cNvPr id="6" name="이미지 교체 영역">
            <a:extLst xmlns:a="http://schemas.openxmlformats.org/drawingml/2006/main">
              <a:ext uri="{FF2B5EF4-FFF2-40B4-BE49-F238E27FC236}">
                <a16:creationId xmlns:a16="http://schemas.microsoft.com/office/drawing/2014/main" id="{65002818-8D4A-4A16-8BCE-8880BF9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이미지 교체 영역</a:t>
            </a:r>
          </a:p>
        </p:txBody>
      </p:sp>
      <p:sp>
        <p:nvSpPr>
          <p:cNvPr id="7" name="스토리 UI 대표 화면">
            <a:extLst xmlns:a="http://schemas.openxmlformats.org/drawingml/2006/main">
              <a:ext uri="{FF2B5EF4-FFF2-40B4-BE49-F238E27FC236}">
                <a16:creationId xmlns:a16="http://schemas.microsoft.com/office/drawing/2014/main" id="{5E93B87E-A0D9-4DA0-B0D0-A8D84EB8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515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스토리 UI 대표 화면</a:t>
            </a:r>
          </a:p>
        </p:txBody>
      </p:sp>
      <p:sp>
        <p:nvSpPr>
          <p:cNvPr id="8" name="챕터 전환 또는 해금 전후를 보여 주는 캡처">
            <a:extLst xmlns:a="http://schemas.openxmlformats.org/drawingml/2006/main">
              <a:ext uri="{FF2B5EF4-FFF2-40B4-BE49-F238E27FC236}">
                <a16:creationId xmlns:a16="http://schemas.microsoft.com/office/drawing/2014/main" id="{E2DF175F-6176-4CDE-B188-C270372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6515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챕터 전환 또는 해금 전후를 보여 주는 캡처</a:t>
            </a:r>
          </a:p>
        </p:txBody>
      </p:sp>
      <p:sp>
        <p:nvSpPr>
          <p:cNvPr id="9" name="16:9 캡처 또는 핵심 구조 삽화">
            <a:extLst xmlns:a="http://schemas.openxmlformats.org/drawingml/2006/main">
              <a:ext uri="{FF2B5EF4-FFF2-40B4-BE49-F238E27FC236}">
                <a16:creationId xmlns:a16="http://schemas.microsoft.com/office/drawing/2014/main" id="{848623C6-8609-4751-BC6D-248071AE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16:9 캡처 또는 핵심 구조 삽화</a:t>
            </a:r>
          </a:p>
        </p:txBody>
      </p:sp>
      <p:sp>
        <p:nvSpPr>
          <p:cNvPr id="10" name="핵심 설계">
            <a:extLst xmlns:a="http://schemas.openxmlformats.org/drawingml/2006/main">
              <a:ext uri="{FF2B5EF4-FFF2-40B4-BE49-F238E27FC236}">
                <a16:creationId xmlns:a16="http://schemas.microsoft.com/office/drawing/2014/main" id="{BD0398AA-7774-4AB5-8125-6F9D8B36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핵심 설계</a:t>
            </a:r>
          </a:p>
        </p:txBody>
      </p:sp>
      <p:sp>
        <p:nvSpPr>
          <p:cNvPr id="11" name="진행도와 열람 가능한 챕터 연결">
            <a:extLst xmlns:a="http://schemas.openxmlformats.org/drawingml/2006/main">
              <a:ext uri="{FF2B5EF4-FFF2-40B4-BE49-F238E27FC236}">
                <a16:creationId xmlns:a16="http://schemas.microsoft.com/office/drawing/2014/main" id="{E4100EB2-B694-46CE-B4CE-281B6373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3314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진행도와 열람 가능한 챕터 연결</a:t>
            </a:r>
          </a:p>
        </p:txBody>
      </p:sp>
      <p:sp>
        <p:nvSpPr>
          <p:cNvPr id="12" name="해결한 문제">
            <a:extLst xmlns:a="http://schemas.openxmlformats.org/drawingml/2006/main">
              <a:ext uri="{FF2B5EF4-FFF2-40B4-BE49-F238E27FC236}">
                <a16:creationId xmlns:a16="http://schemas.microsoft.com/office/drawing/2014/main" id="{2B06091F-A2AF-4D13-A514-550A52F3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해결한 문제</a:t>
            </a:r>
          </a:p>
        </p:txBody>
      </p:sp>
      <p:sp>
        <p:nvSpPr>
          <p:cNvPr id="13" name="[문제 1문장]&#10;[해결 방법 1문장]">
            <a:extLst xmlns:a="http://schemas.openxmlformats.org/drawingml/2006/main">
              <a:ext uri="{FF2B5EF4-FFF2-40B4-BE49-F238E27FC236}">
                <a16:creationId xmlns:a16="http://schemas.microsoft.com/office/drawing/2014/main" id="{998F87E6-81AF-4471-8E80-5C39342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[문제 1문장]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[해결 방법 1문장]</a:t>
            </a:r>
          </a:p>
        </p:txBody>
      </p:sp>
      <p:sp>
        <p:nvSpPr>
          <p:cNvPr id="14" name="보여 줄 근거">
            <a:extLst xmlns:a="http://schemas.openxmlformats.org/drawingml/2006/main">
              <a:ext uri="{FF2B5EF4-FFF2-40B4-BE49-F238E27FC236}">
                <a16:creationId xmlns:a16="http://schemas.microsoft.com/office/drawing/2014/main" id="{64D22266-BEA7-4778-A44C-F250830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보여 줄 근거</a:t>
            </a:r>
          </a:p>
        </p:txBody>
      </p:sp>
      <p:sp>
        <p:nvSpPr>
          <p:cNvPr id="15" name="닫기·재열기·챕터 전환 시연">
            <a:extLst xmlns:a="http://schemas.openxmlformats.org/drawingml/2006/main">
              <a:ext uri="{FF2B5EF4-FFF2-40B4-BE49-F238E27FC236}">
                <a16:creationId xmlns:a16="http://schemas.microsoft.com/office/drawing/2014/main" id="{79087FED-BA16-4535-9561-9EC418C9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닫기·재열기·챕터 전환 시연</a:t>
            </a:r>
          </a:p>
        </p:txBody>
      </p:sp>
    </p:spTree>
    <p:extLst>
      <p:ext uri="{BB962C8B-B14F-4D97-AF65-F5344CB8AC3E}">
        <p14:creationId xmlns:p14="http://schemas.microsoft.com/office/powerpoint/2010/main" val="1639854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A58788AA-ED03-4F1D-AFD6-893D00BE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정창희">
            <a:extLst xmlns:a="http://schemas.openxmlformats.org/drawingml/2006/main">
              <a:ext uri="{FF2B5EF4-FFF2-40B4-BE49-F238E27FC236}">
                <a16:creationId xmlns:a16="http://schemas.microsoft.com/office/drawing/2014/main" id="{E2DC0830-9A52-453D-A9C0-D03B2AA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</a:t>
            </a:r>
          </a:p>
        </p:txBody>
      </p:sp>
      <p:sp>
        <p:nvSpPr>
          <p:cNvPr id="3" name="유닛 AI와 튜토리얼을 구현하는 게임 개발자">
            <a:extLst xmlns:a="http://schemas.openxmlformats.org/drawingml/2006/main">
              <a:ext uri="{FF2B5EF4-FFF2-40B4-BE49-F238E27FC236}">
                <a16:creationId xmlns:a16="http://schemas.microsoft.com/office/drawing/2014/main" id="{53171B6E-44CB-44D0-9D94-26CEEF73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유닛 AI와 튜토리얼을 구현하는 게임 개발자</a:t>
            </a:r>
          </a:p>
        </p:txBody>
      </p:sp>
      <p:sp>
        <p:nvSpPr>
          <p:cNvPr id="4" name="정창희  /  StrikeForge">
            <a:extLst xmlns:a="http://schemas.openxmlformats.org/drawingml/2006/main">
              <a:ext uri="{FF2B5EF4-FFF2-40B4-BE49-F238E27FC236}">
                <a16:creationId xmlns:a16="http://schemas.microsoft.com/office/drawing/2014/main" id="{36ABBD3C-4442-44E5-8DDC-9E9DC0A4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정창희  /  StrikeForge</a:t>
            </a:r>
          </a:p>
        </p:txBody>
      </p:sp>
      <p:sp>
        <p:nvSpPr>
          <p:cNvPr id="5" name="010-2371-7654">
            <a:extLst xmlns:a="http://schemas.openxmlformats.org/drawingml/2006/main">
              <a:ext uri="{FF2B5EF4-FFF2-40B4-BE49-F238E27FC236}">
                <a16:creationId xmlns:a16="http://schemas.microsoft.com/office/drawing/2014/main" id="{B7EF13C3-0108-4FCA-BF6E-25D56BA9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010-2371-7654</a:t>
            </a:r>
          </a:p>
        </p:txBody>
      </p:sp>
      <p:sp>
        <p:nvSpPr>
          <p:cNvPr id="6" name="cch77654@gmail.com">
            <a:extLst xmlns:a="http://schemas.openxmlformats.org/drawingml/2006/main">
              <a:ext uri="{FF2B5EF4-FFF2-40B4-BE49-F238E27FC236}">
                <a16:creationId xmlns:a16="http://schemas.microsoft.com/office/drawing/2014/main" id="{832D1E9A-53CF-4F2B-95D3-8AEDE413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cch77654@gmail.com</a:t>
            </a:r>
          </a:p>
        </p:txBody>
      </p:sp>
      <p:sp>
        <p:nvSpPr>
          <p:cNvPr id="7" name="GitHub / 시연 영상">
            <a:extLst xmlns:a="http://schemas.openxmlformats.org/drawingml/2006/main">
              <a:ext uri="{FF2B5EF4-FFF2-40B4-BE49-F238E27FC236}">
                <a16:creationId xmlns:a16="http://schemas.microsoft.com/office/drawing/2014/main" id="{4112ED69-109B-4A3D-A40C-1130A43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984FF"/>
                </a:solidFill>
                <a:latin typeface="Malgun Gothic"/>
                <a:ea typeface="Malgun Gothic"/>
                <a:cs typeface="Malgun Gothic"/>
              </a:rPr>
              <a:t>GitHub / 시연 영상</a:t>
            </a:r>
          </a:p>
        </p:txBody>
      </p:sp>
      <p:sp>
        <p:nvSpPr>
          <p:cNvPr id="8" name="[프로젝트 링크 입력]">
            <a:extLst xmlns:a="http://schemas.openxmlformats.org/drawingml/2006/main">
              <a:ext uri="{FF2B5EF4-FFF2-40B4-BE49-F238E27FC236}">
                <a16:creationId xmlns:a16="http://schemas.microsoft.com/office/drawing/2014/main" id="{F2EBCA2A-4EB4-4D1B-A686-E5F785F8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[프로젝트 링크 입력]</a:t>
            </a:r>
          </a:p>
        </p:txBody>
      </p:sp>
    </p:spTree>
    <p:extLst>
      <p:ext uri="{BB962C8B-B14F-4D97-AF65-F5344CB8AC3E}">
        <p14:creationId xmlns:p14="http://schemas.microsoft.com/office/powerpoint/2010/main" val="303547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2026-10-06T11:04:08.3080000Z</dcterms:created>
  <dcterms:modified xsi:type="dcterms:W3CDTF">2026-10-06T11:04:08.3080000Z</dcterms:modified>
</coreProperties>
</file>